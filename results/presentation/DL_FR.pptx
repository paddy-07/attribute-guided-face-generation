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030ac25544f61" /><Relationship Type="http://schemas.openxmlformats.org/officeDocument/2006/relationships/extended-properties" Target="/docProps/app.xml" Id="R5e9f328c954b4a63" /><Relationship Type="http://schemas.openxmlformats.org/officeDocument/2006/relationships/officeDocument" Target="/ppt/presentation.xml" Id="R704bb811032140a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fd6c9284d464403"/>
  </p:sldMasterIdLst>
  <p:notesMasterIdLst>
    <p:notesMasterId xmlns:r="http://schemas.openxmlformats.org/officeDocument/2006/relationships" r:id="Raf88fe0a88004118"/>
  </p:notesMasterIdLst>
  <p:sldIdLst>
    <p:sldId xmlns:r="http://schemas.openxmlformats.org/officeDocument/2006/relationships" id="256" r:id="Rc2bc685d96b94e57"/>
    <p:sldId xmlns:r="http://schemas.openxmlformats.org/officeDocument/2006/relationships" id="257" r:id="Rc86d68548e2448fb"/>
    <p:sldId xmlns:r="http://schemas.openxmlformats.org/officeDocument/2006/relationships" id="258" r:id="Re4ce97693ba24c9e"/>
    <p:sldId xmlns:r="http://schemas.openxmlformats.org/officeDocument/2006/relationships" id="259" r:id="Re3c53a98b9a7456d"/>
    <p:sldId xmlns:r="http://schemas.openxmlformats.org/officeDocument/2006/relationships" id="260" r:id="R80ecab79f56641ef"/>
    <p:sldId xmlns:r="http://schemas.openxmlformats.org/officeDocument/2006/relationships" id="261" r:id="R127cdc617e6e4310"/>
    <p:sldId xmlns:r="http://schemas.openxmlformats.org/officeDocument/2006/relationships" id="262" r:id="Rc515b29d624041d9"/>
    <p:sldId xmlns:r="http://schemas.openxmlformats.org/officeDocument/2006/relationships" id="263" r:id="R1d62e88ed4964a8c"/>
    <p:sldId xmlns:r="http://schemas.openxmlformats.org/officeDocument/2006/relationships" id="264" r:id="Reb3ccfae6dbd4fa5"/>
    <p:sldId xmlns:r="http://schemas.openxmlformats.org/officeDocument/2006/relationships" id="265" r:id="R8dd00eabb7654fbe"/>
    <p:sldId xmlns:r="http://schemas.openxmlformats.org/officeDocument/2006/relationships" id="266" r:id="Rf28532807daa442a"/>
    <p:sldId xmlns:r="http://schemas.openxmlformats.org/officeDocument/2006/relationships" id="267" r:id="R6d3f5e4482c94c0b"/>
    <p:sldId xmlns:r="http://schemas.openxmlformats.org/officeDocument/2006/relationships" id="268" r:id="R7d447ec5f66c4a24"/>
    <p:sldId xmlns:r="http://schemas.openxmlformats.org/officeDocument/2006/relationships" id="269" r:id="R033bdf182acd42cf"/>
    <p:sldId xmlns:r="http://schemas.openxmlformats.org/officeDocument/2006/relationships" id="270" r:id="R48bf2b78c6774e42"/>
    <p:sldId xmlns:r="http://schemas.openxmlformats.org/officeDocument/2006/relationships" id="271" r:id="R8129aa4753534c58"/>
    <p:sldId xmlns:r="http://schemas.openxmlformats.org/officeDocument/2006/relationships" id="272" r:id="R773c63e59e854a24"/>
    <p:sldId xmlns:r="http://schemas.openxmlformats.org/officeDocument/2006/relationships" id="273" r:id="Rc9d3e9564e384ab6"/>
    <p:sldId xmlns:r="http://schemas.openxmlformats.org/officeDocument/2006/relationships" id="274" r:id="R4aa833dd91274008"/>
    <p:sldId xmlns:r="http://schemas.openxmlformats.org/officeDocument/2006/relationships" id="275" r:id="R4d10e1f4f9004137"/>
    <p:sldId xmlns:r="http://schemas.openxmlformats.org/officeDocument/2006/relationships" id="276" r:id="Rec8a605681e441c5"/>
    <p:sldId xmlns:r="http://schemas.openxmlformats.org/officeDocument/2006/relationships" id="277" r:id="Ra3be15e633704c55"/>
  </p:sldIdLst>
  <p:sldSz cx="18288000" cy="10287000"/>
  <p:notesSz cx="6858000" cy="9144000"/>
  <p:embeddedFontLst>
    <p:embeddedFont>
      <p:font typeface="Prata"/>
      <p:regular xmlns:r="http://schemas.openxmlformats.org/officeDocument/2006/relationships" r:id="R4db368b4fec14bdc"/>
    </p:embeddedFont>
    <p:embeddedFont>
      <p:font typeface="Raleway Bold"/>
      <p:regular xmlns:r="http://schemas.openxmlformats.org/officeDocument/2006/relationships" r:id="R2094c77b4d3d498b"/>
    </p:embeddedFont>
    <p:embeddedFont>
      <p:font typeface="Raleway"/>
      <p:regular xmlns:r="http://schemas.openxmlformats.org/officeDocument/2006/relationships" r:id="R830c2bf521eb4936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c4416da274157" /><Relationship Type="http://schemas.openxmlformats.org/officeDocument/2006/relationships/slideMaster" Target="/ppt/slideMasters/slideMaster1.xml" Id="Refd6c9284d464403" /><Relationship Type="http://schemas.openxmlformats.org/officeDocument/2006/relationships/notesMaster" Target="/ppt/notesMasters/notesMaster1.xml" Id="Raf88fe0a88004118" /><Relationship Type="http://schemas.openxmlformats.org/officeDocument/2006/relationships/presProps" Target="/ppt/presProps.xml" Id="R89388af8a1504293" /><Relationship Type="http://schemas.openxmlformats.org/officeDocument/2006/relationships/viewProps" Target="/ppt/viewProps.xml" Id="Rd362f2979bfa410c" /><Relationship Type="http://schemas.openxmlformats.org/officeDocument/2006/relationships/tableStyles" Target="/ppt/tableStyles.xml" Id="Rc2b54700c9f84418" /><Relationship Type="http://schemas.openxmlformats.org/officeDocument/2006/relationships/font" Target="/ppt/fonts/font.dat" Id="R4db368b4fec14bdc" /><Relationship Type="http://schemas.openxmlformats.org/officeDocument/2006/relationships/font" Target="/ppt/fonts/font2.dat" Id="R2094c77b4d3d498b" /><Relationship Type="http://schemas.openxmlformats.org/officeDocument/2006/relationships/font" Target="/ppt/fonts/font3.dat" Id="R830c2bf521eb4936" /><Relationship Type="http://schemas.openxmlformats.org/officeDocument/2006/relationships/slide" Target="/ppt/slides/slide1.xml" Id="Rc2bc685d96b94e57" /><Relationship Type="http://schemas.openxmlformats.org/officeDocument/2006/relationships/slide" Target="/ppt/slides/slide2.xml" Id="Rc86d68548e2448fb" /><Relationship Type="http://schemas.openxmlformats.org/officeDocument/2006/relationships/slide" Target="/ppt/slides/slide3.xml" Id="Re4ce97693ba24c9e" /><Relationship Type="http://schemas.openxmlformats.org/officeDocument/2006/relationships/slide" Target="/ppt/slides/slide4.xml" Id="Re3c53a98b9a7456d" /><Relationship Type="http://schemas.openxmlformats.org/officeDocument/2006/relationships/slide" Target="/ppt/slides/slide5.xml" Id="R80ecab79f56641ef" /><Relationship Type="http://schemas.openxmlformats.org/officeDocument/2006/relationships/slide" Target="/ppt/slides/slide6.xml" Id="R127cdc617e6e4310" /><Relationship Type="http://schemas.openxmlformats.org/officeDocument/2006/relationships/slide" Target="/ppt/slides/slide7.xml" Id="Rc515b29d624041d9" /><Relationship Type="http://schemas.openxmlformats.org/officeDocument/2006/relationships/slide" Target="/ppt/slides/slide8.xml" Id="R1d62e88ed4964a8c" /><Relationship Type="http://schemas.openxmlformats.org/officeDocument/2006/relationships/slide" Target="/ppt/slides/slide9.xml" Id="Reb3ccfae6dbd4fa5" /><Relationship Type="http://schemas.openxmlformats.org/officeDocument/2006/relationships/slide" Target="/ppt/slides/slide10.xml" Id="R8dd00eabb7654fbe" /><Relationship Type="http://schemas.openxmlformats.org/officeDocument/2006/relationships/slide" Target="/ppt/slides/slide11.xml" Id="Rf28532807daa442a" /><Relationship Type="http://schemas.openxmlformats.org/officeDocument/2006/relationships/slide" Target="/ppt/slides/slide12.xml" Id="R6d3f5e4482c94c0b" /><Relationship Type="http://schemas.openxmlformats.org/officeDocument/2006/relationships/slide" Target="/ppt/slides/slide13.xml" Id="R7d447ec5f66c4a24" /><Relationship Type="http://schemas.openxmlformats.org/officeDocument/2006/relationships/slide" Target="/ppt/slides/slide14.xml" Id="R033bdf182acd42cf" /><Relationship Type="http://schemas.openxmlformats.org/officeDocument/2006/relationships/slide" Target="/ppt/slides/slide15.xml" Id="R48bf2b78c6774e42" /><Relationship Type="http://schemas.openxmlformats.org/officeDocument/2006/relationships/slide" Target="/ppt/slides/slide16.xml" Id="R8129aa4753534c58" /><Relationship Type="http://schemas.openxmlformats.org/officeDocument/2006/relationships/slide" Target="/ppt/slides/slide17.xml" Id="R773c63e59e854a24" /><Relationship Type="http://schemas.openxmlformats.org/officeDocument/2006/relationships/slide" Target="/ppt/slides/slide18.xml" Id="Rc9d3e9564e384ab6" /><Relationship Type="http://schemas.openxmlformats.org/officeDocument/2006/relationships/slide" Target="/ppt/slides/slide19.xml" Id="R4aa833dd91274008" /><Relationship Type="http://schemas.openxmlformats.org/officeDocument/2006/relationships/slide" Target="/ppt/slides/slide20.xml" Id="R4d10e1f4f9004137" /><Relationship Type="http://schemas.openxmlformats.org/officeDocument/2006/relationships/slide" Target="/ppt/slides/slide21.xml" Id="Rec8a605681e441c5" /><Relationship Type="http://schemas.openxmlformats.org/officeDocument/2006/relationships/slide" Target="/ppt/slides/slide22.xml" Id="Ra3be15e633704c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b469a2677745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c0e7f7534f09" /><Relationship Type="http://schemas.openxmlformats.org/officeDocument/2006/relationships/notesMaster" Target="/ppt/notesMasters/notesMaster1.xml" Id="R584b8bab9707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8b2e87b634b42" /><Relationship Type="http://schemas.openxmlformats.org/officeDocument/2006/relationships/notesMaster" Target="/ppt/notesMasters/notesMaster1.xml" Id="Reb553ad83d0a4f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e693efb65412b" /><Relationship Type="http://schemas.openxmlformats.org/officeDocument/2006/relationships/notesMaster" Target="/ppt/notesMasters/notesMaster1.xml" Id="R6d4bf57ca8a642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fbdba5524a4833" /><Relationship Type="http://schemas.openxmlformats.org/officeDocument/2006/relationships/notesMaster" Target="/ppt/notesMasters/notesMaster1.xml" Id="Rfcc5c62fd61e40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3661d82004fc9" /><Relationship Type="http://schemas.openxmlformats.org/officeDocument/2006/relationships/notesMaster" Target="/ppt/notesMasters/notesMaster1.xml" Id="Rbed82dfd45b84b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9dd093da34ed0" /><Relationship Type="http://schemas.openxmlformats.org/officeDocument/2006/relationships/notesMaster" Target="/ppt/notesMasters/notesMaster1.xml" Id="R8d3b822fefd047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43ab51338d4958" /><Relationship Type="http://schemas.openxmlformats.org/officeDocument/2006/relationships/notesMaster" Target="/ppt/notesMasters/notesMaster1.xml" Id="Rb4a7f36892304c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bf0bef0a94d86" /><Relationship Type="http://schemas.openxmlformats.org/officeDocument/2006/relationships/notesMaster" Target="/ppt/notesMasters/notesMaster1.xml" Id="R89b0ac66a26941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d8d085ac0a48d2" /><Relationship Type="http://schemas.openxmlformats.org/officeDocument/2006/relationships/notesMaster" Target="/ppt/notesMasters/notesMaster1.xml" Id="R7ea725ea4e0849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520e2dbf54427c" /><Relationship Type="http://schemas.openxmlformats.org/officeDocument/2006/relationships/notesMaster" Target="/ppt/notesMasters/notesMaster1.xml" Id="R88de81835dfd49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d870d0d86c47d8" /><Relationship Type="http://schemas.openxmlformats.org/officeDocument/2006/relationships/notesMaster" Target="/ppt/notesMasters/notesMaster1.xml" Id="R8bd82429379845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bd9fe1eae64a3f" /><Relationship Type="http://schemas.openxmlformats.org/officeDocument/2006/relationships/notesMaster" Target="/ppt/notesMasters/notesMaster1.xml" Id="R8c72c241917840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c586398ec14f8f" /><Relationship Type="http://schemas.openxmlformats.org/officeDocument/2006/relationships/notesMaster" Target="/ppt/notesMasters/notesMaster1.xml" Id="R17d52062823448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6a449d8ac941f8" /><Relationship Type="http://schemas.openxmlformats.org/officeDocument/2006/relationships/notesMaster" Target="/ppt/notesMasters/notesMaster1.xml" Id="Re2b0c2e8cfa34f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f5e865e7724432" /><Relationship Type="http://schemas.openxmlformats.org/officeDocument/2006/relationships/notesMaster" Target="/ppt/notesMasters/notesMaster1.xml" Id="Rd8fad43ebd584f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915ee14f8847c9" /><Relationship Type="http://schemas.openxmlformats.org/officeDocument/2006/relationships/notesMaster" Target="/ppt/notesMasters/notesMaster1.xml" Id="Rcdaa2dd862fa42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e17d84e1cc4597" /><Relationship Type="http://schemas.openxmlformats.org/officeDocument/2006/relationships/notesMaster" Target="/ppt/notesMasters/notesMaster1.xml" Id="Rf01c43691f1346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7a40511bff400b" /><Relationship Type="http://schemas.openxmlformats.org/officeDocument/2006/relationships/notesMaster" Target="/ppt/notesMasters/notesMaster1.xml" Id="Refc71d2f42af4b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0450bfad1d440a" /><Relationship Type="http://schemas.openxmlformats.org/officeDocument/2006/relationships/notesMaster" Target="/ppt/notesMasters/notesMaster1.xml" Id="R19814d5d2dfd4d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99383ed94f401e" /><Relationship Type="http://schemas.openxmlformats.org/officeDocument/2006/relationships/notesMaster" Target="/ppt/notesMasters/notesMaster1.xml" Id="R6b58d8f3a1ca40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68e4ff2cee4ee0" /><Relationship Type="http://schemas.openxmlformats.org/officeDocument/2006/relationships/notesMaster" Target="/ppt/notesMasters/notesMaster1.xml" Id="Rcce7d5afee3c4c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0b0e07bd0b4ada" /><Relationship Type="http://schemas.openxmlformats.org/officeDocument/2006/relationships/notesMaster" Target="/ppt/notesMasters/notesMaster1.xml" Id="R871e8ebd923448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from E:/Me/Sem-5/Dl/Face_Gen/Attribute-based-face-generator-main/checkpoints/ckpt_epoch050.pt. The natural grid uses --attrs "" and one latent candidate per sample. The conditioned grid uses --attrs "Female,Eyeglasses" and selects the highest discriminator attribute score from 64 candidates. Output display applies contrast enhancement and 4x Lanczos enlargement; the model itself remains 64x64.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96e9ab2de45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90087de3a4c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1dbeeac6146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6a1b82c954a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1bad825194d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15ea6d03d40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c974136ef4e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592c54edb48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f846f76b148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66165660e48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04b2ff9b5472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5DB369-BB1F-4381-969A-FDC8185F026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E7A1EA7-7A27-4714-9B57-534551C15C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C42CB7-5039-4D0F-ABAD-7F8065B37E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83D88F-BC18-4614-B278-5095FF9164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3FA00B-4AEA-4BD7-BD10-BAEE2F235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7D5643-90D1-4779-A680-FB978D4BE2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DAB6F7-3549-4379-B983-C6CD273AD1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475EC5-8394-4DFE-B21A-129D8A09B5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490C22-1C5A-46D8-B26F-CEBFBD8B0D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3FA19B-B109-423B-AC73-055A14C77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B48486-8AEA-4344-984B-550FE9D6B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37EC67-9A7D-4750-9E67-657D2B31E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FA1B9E-4097-4728-8DF9-D5F0A5A5C2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1511E4-B69C-49C2-8BFE-509C603DE9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DEA5D4-C839-4C2A-89CE-0444B9E6ED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FA170-8009-4E00-8D4E-3251533CE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FFECF8E-7E3A-474D-BD24-4A2C1C7C95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0E0A202-13F9-4799-8E1C-C50E51A4C39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2785CDC-6C5E-4E71-B1C9-D193737230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8D6F42-75F4-46B8-ABD3-63F63EEDAD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7EDD33-BC4C-468B-96AE-397A891725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D265FE-3080-4089-A02D-365B41AC9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EE9838-DBB2-430E-A7A7-444E2B9CFE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A5F21B-9328-4262-9A8A-46A1B8B489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3012B4B-6396-4389-A4EF-2D5BF57DDCC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BBB2D3C-F418-4E65-A781-FEBB849229A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14CB866-009D-458F-ABA8-A5905D6E17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CABB3AA-55E7-45E5-9B35-BD6BCA49F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E996982-5EBC-4ECB-BB28-E7101F7CD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96785-AFF1-495C-9E61-2DE33FF7C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B931AAE-0A01-43CE-A323-A8E95C3544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89791B9-C536-444A-96E9-B98E306C03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822F0DC-AB63-47D8-B587-D7347696EF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9DA2735-6EBA-4C4A-890A-9413DA4382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EA3DF8-DCC3-4857-AAAF-20C57A2074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D8E5A6-6CB9-40FC-BC4D-9E993EF851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1C411C-FD5B-42B5-B71D-0A4E77085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087951-CA93-4D53-9469-A64BEB54C1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8B44838-5B19-4946-9A3E-57EAE15EFD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AE3484-EEBA-4198-A82B-075C073724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1D8815A-99CB-4647-B2B6-87B59A58AB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E257F33-9AFE-4F32-AF05-95B4DB9D5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49E63D-66C1-4447-814B-16DC81F1C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90DC201-239A-4C5A-A8F6-A2AC87AB9B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724DF12-DEA9-4988-9A0F-76B8DA207C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F2F334-C416-4A1A-8809-E6AFDAA3E4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D697E55-EE4C-4132-A971-F15C74A3FB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95389E-C87C-4CA3-A851-B031D1613A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DA9995-7C9D-4AF7-A852-ECECA1EE3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73E5FD-4160-4CE6-AC58-A2880F89A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37F912-FE32-4B8E-B404-2324737317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C5C0C3-12FA-4A56-965D-68E577B89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EBD7EB-FA62-49A7-995C-9F03F10A1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D5F5C7-B970-4F4F-8A05-22B32F921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6EA521-053E-474C-9F0D-62B5B811F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4FD7F9-6F5D-490D-AEEE-415527E678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93359D-4924-4AB4-A159-F552AC53C4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D5E2F3-BCF9-416D-9D34-C3A303476F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6a570d60e47dc" /><Relationship Type="http://schemas.openxmlformats.org/officeDocument/2006/relationships/slideLayout" Target="/ppt/slideLayouts/slideLayout1.xml" Id="Rb6c4b153a54d42d0" /><Relationship Type="http://schemas.openxmlformats.org/officeDocument/2006/relationships/slideLayout" Target="/ppt/slideLayouts/slideLayout2.xml" Id="Rae9945c307db4980" /><Relationship Type="http://schemas.openxmlformats.org/officeDocument/2006/relationships/slideLayout" Target="/ppt/slideLayouts/slideLayout3.xml" Id="R6aa0e4a1d102406d" /><Relationship Type="http://schemas.openxmlformats.org/officeDocument/2006/relationships/slideLayout" Target="/ppt/slideLayouts/slideLayout4.xml" Id="R346854d3c6f94eef" /><Relationship Type="http://schemas.openxmlformats.org/officeDocument/2006/relationships/slideLayout" Target="/ppt/slideLayouts/slideLayout5.xml" Id="R5484bfa4f8504285" /><Relationship Type="http://schemas.openxmlformats.org/officeDocument/2006/relationships/slideLayout" Target="/ppt/slideLayouts/slideLayout6.xml" Id="R3053af58fa7d4da9" /><Relationship Type="http://schemas.openxmlformats.org/officeDocument/2006/relationships/slideLayout" Target="/ppt/slideLayouts/slideLayout7.xml" Id="R6ce11aa90b774e9a" /><Relationship Type="http://schemas.openxmlformats.org/officeDocument/2006/relationships/slideLayout" Target="/ppt/slideLayouts/slideLayout8.xml" Id="R020bbea6a0f8404b" /><Relationship Type="http://schemas.openxmlformats.org/officeDocument/2006/relationships/slideLayout" Target="/ppt/slideLayouts/slideLayout9.xml" Id="Rebdbc028e7114891" /><Relationship Type="http://schemas.openxmlformats.org/officeDocument/2006/relationships/slideLayout" Target="/ppt/slideLayouts/slideLayout10.xml" Id="R584e101ae15c47d1" /><Relationship Type="http://schemas.openxmlformats.org/officeDocument/2006/relationships/slideLayout" Target="/ppt/slideLayouts/slideLayout11.xml" Id="R74e57ee947fe46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1D59892-E5A8-4579-ADF7-306121499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F3C3FB-B1E8-44D4-A21E-CB76487332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63017F-092A-41DE-8819-A9077EE072A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D45569-0549-42C5-9627-6E206A74BD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3BD270-73B6-434D-9D5E-AE17640DF3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4b153a54d42d0"/>
    <p:sldLayoutId xmlns:r="http://schemas.openxmlformats.org/officeDocument/2006/relationships" id="2147483650" r:id="Rae9945c307db4980"/>
    <p:sldLayoutId xmlns:r="http://schemas.openxmlformats.org/officeDocument/2006/relationships" id="2147483651" r:id="R6aa0e4a1d102406d"/>
    <p:sldLayoutId xmlns:r="http://schemas.openxmlformats.org/officeDocument/2006/relationships" id="2147483652" r:id="R346854d3c6f94eef"/>
    <p:sldLayoutId xmlns:r="http://schemas.openxmlformats.org/officeDocument/2006/relationships" id="2147483653" r:id="R5484bfa4f8504285"/>
    <p:sldLayoutId xmlns:r="http://schemas.openxmlformats.org/officeDocument/2006/relationships" id="2147483654" r:id="R3053af58fa7d4da9"/>
    <p:sldLayoutId xmlns:r="http://schemas.openxmlformats.org/officeDocument/2006/relationships" id="2147483655" r:id="R6ce11aa90b774e9a"/>
    <p:sldLayoutId xmlns:r="http://schemas.openxmlformats.org/officeDocument/2006/relationships" id="2147483656" r:id="R020bbea6a0f8404b"/>
    <p:sldLayoutId xmlns:r="http://schemas.openxmlformats.org/officeDocument/2006/relationships" id="2147483657" r:id="Rebdbc028e7114891"/>
    <p:sldLayoutId xmlns:r="http://schemas.openxmlformats.org/officeDocument/2006/relationships" id="2147483658" r:id="R584e101ae15c47d1"/>
    <p:sldLayoutId xmlns:r="http://schemas.openxmlformats.org/officeDocument/2006/relationships" id="2147483659" r:id="R74e57ee947fe461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43d563f0484623" /><Relationship Type="http://schemas.openxmlformats.org/officeDocument/2006/relationships/notesSlide" Target="/ppt/notesSlides/notesSlide1.xml" Id="R55f6a2793cda42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23238d74e64cad" /><Relationship Type="http://schemas.openxmlformats.org/officeDocument/2006/relationships/notesSlide" Target="/ppt/notesSlides/notesSlide2.xml" Id="Ra7e9b0e5355c46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36037718ca4c4c" /><Relationship Type="http://schemas.openxmlformats.org/officeDocument/2006/relationships/notesSlide" Target="/ppt/notesSlides/notesSlide3.xml" Id="Re887e3fea95b41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3fb90d859145e5" /><Relationship Type="http://schemas.openxmlformats.org/officeDocument/2006/relationships/notesSlide" Target="/ppt/notesSlides/notesSlide4.xml" Id="Rc2d2c142a5704d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57205a1a664da6" /><Relationship Type="http://schemas.openxmlformats.org/officeDocument/2006/relationships/notesSlide" Target="/ppt/notesSlides/notesSlide5.xml" Id="R6a243a3e3f8446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b1c2e22d1e4e3e" /><Relationship Type="http://schemas.openxmlformats.org/officeDocument/2006/relationships/notesSlide" Target="/ppt/notesSlides/notesSlide6.xml" Id="R4499aa68d2e94a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4783d8a76d4851" /><Relationship Type="http://schemas.openxmlformats.org/officeDocument/2006/relationships/notesSlide" Target="/ppt/notesSlides/notesSlide7.xml" Id="R2b0ac60bc4a44b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d43c1283834019" /><Relationship Type="http://schemas.openxmlformats.org/officeDocument/2006/relationships/image" Target="/ppt/media/image.png" Id="Rcf1404e06a684b8b" /><Relationship Type="http://schemas.openxmlformats.org/officeDocument/2006/relationships/notesSlide" Target="/ppt/notesSlides/notesSlide8.xml" Id="Rfefb077706fb42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b345e16a47434e" /><Relationship Type="http://schemas.openxmlformats.org/officeDocument/2006/relationships/notesSlide" Target="/ppt/notesSlides/notesSlide9.xml" Id="R931abe4ae15446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b8b4dc0c924bb3" /><Relationship Type="http://schemas.openxmlformats.org/officeDocument/2006/relationships/notesSlide" Target="/ppt/notesSlides/notesSlide10.xml" Id="R642b5c1e20084a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abcfd813de4f1f" /><Relationship Type="http://schemas.openxmlformats.org/officeDocument/2006/relationships/notesSlide" Target="/ppt/notesSlides/notesSlide11.xml" Id="R13561b719ca04d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ef0c9d933646cb" /><Relationship Type="http://schemas.openxmlformats.org/officeDocument/2006/relationships/notesSlide" Target="/ppt/notesSlides/notesSlide12.xml" Id="Ra623d9abf05a4a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8d2a76ce4c4062" /><Relationship Type="http://schemas.openxmlformats.org/officeDocument/2006/relationships/notesSlide" Target="/ppt/notesSlides/notesSlide13.xml" Id="Rc73ecf357dee40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1fbc05f3734c81" /><Relationship Type="http://schemas.openxmlformats.org/officeDocument/2006/relationships/notesSlide" Target="/ppt/notesSlides/notesSlide14.xml" Id="R8da705326ddb4a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c3a32b5dff4405" /><Relationship Type="http://schemas.openxmlformats.org/officeDocument/2006/relationships/notesSlide" Target="/ppt/notesSlides/notesSlide15.xml" Id="R7387223dc8a541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7eb77f5d1e410d" /><Relationship Type="http://schemas.openxmlformats.org/officeDocument/2006/relationships/notesSlide" Target="/ppt/notesSlides/notesSlide16.xml" Id="Re5ec1f199deb46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7ab0a2ee524013" /><Relationship Type="http://schemas.openxmlformats.org/officeDocument/2006/relationships/notesSlide" Target="/ppt/notesSlides/notesSlide17.xml" Id="R14cedc5d8cd347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30b78daa9a4e5d" /><Relationship Type="http://schemas.openxmlformats.org/officeDocument/2006/relationships/notesSlide" Target="/ppt/notesSlides/notesSlide18.xml" Id="R9bad735f804840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ab11b81bf24a56" /><Relationship Type="http://schemas.openxmlformats.org/officeDocument/2006/relationships/notesSlide" Target="/ppt/notesSlides/notesSlide19.xml" Id="R5351dd17d6b14c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e27d94db1b4b72" /><Relationship Type="http://schemas.openxmlformats.org/officeDocument/2006/relationships/image" Target="/ppt/media/image2.png" Id="Ra9b155dba50d4b28" /><Relationship Type="http://schemas.openxmlformats.org/officeDocument/2006/relationships/image" Target="/ppt/media/image3.png" Id="Ra6488116c1524d55" /><Relationship Type="http://schemas.openxmlformats.org/officeDocument/2006/relationships/notesSlide" Target="/ppt/notesSlides/notesSlide20.xml" Id="R09196690eb7243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b4b7ad32b04f96" /><Relationship Type="http://schemas.openxmlformats.org/officeDocument/2006/relationships/notesSlide" Target="/ppt/notesSlides/notesSlide21.xml" Id="R6ce9af4a3dc34e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819267ee8f4eda" /><Relationship Type="http://schemas.openxmlformats.org/officeDocument/2006/relationships/notesSlide" Target="/ppt/notesSlides/notesSlide22.xml" Id="R295f90a824c949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0EBE1B0-3FEB-44C1-BABA-64871C4B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54" y="2412039"/>
            <a:ext cx="12734892" cy="22688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700"/>
              </a:lnSpc>
              <a:buNone/>
            </a:pPr>
            <a:r>
              <a:rPr sz="8700">
                <a:solidFill>
                  <a:srgbClr val="344E41"/>
                </a:solidFill>
                <a:latin typeface="Prata"/>
                <a:ea typeface="Prata"/>
                <a:cs typeface="Prata"/>
              </a:rPr>
              <a:t>ATTRIBUTE GUIDED FACE GENERATION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CA6782-467F-47F1-82F2-7CB50215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66A883-E3EE-4CCE-B844-BFEF6A6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54" y="914400"/>
            <a:ext cx="12734892" cy="87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50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22AIE304 DEEP LEARNING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5761688-1338-443F-AAA0-D01D0E1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54" y="5057775"/>
            <a:ext cx="12734892" cy="309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900"/>
              </a:lnSpc>
              <a:buNone/>
            </a:pPr>
            <a:r>
              <a:rPr sz="35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TEAM MEMBERS</a:t>
            </a:r>
          </a:p>
          <a:p xmlns:a="http://schemas.openxmlformats.org/drawingml/2006/main">
            <a:pPr algn="ctr">
              <a:lnSpc>
                <a:spcPts val="4900"/>
              </a:lnSpc>
              <a:buNone/>
            </a:pPr>
            <a:r>
              <a:rPr sz="350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AAMITH KISHORE T J  -  CB.SC.U4AIE24001</a:t>
            </a:r>
          </a:p>
          <a:p xmlns:a="http://schemas.openxmlformats.org/drawingml/2006/main">
            <a:pPr algn="ctr">
              <a:lnSpc>
                <a:spcPts val="4900"/>
              </a:lnSpc>
              <a:buNone/>
            </a:pPr>
            <a:r>
              <a:rPr sz="350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NAVEEN U -  CB.SC.U4AIE24035</a:t>
            </a:r>
          </a:p>
          <a:p xmlns:a="http://schemas.openxmlformats.org/drawingml/2006/main">
            <a:pPr algn="ctr">
              <a:lnSpc>
                <a:spcPts val="4900"/>
              </a:lnSpc>
              <a:buNone/>
            </a:pPr>
            <a:r>
              <a:rPr sz="350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RAGAV S -  CB.SC.U4AIE24041</a:t>
            </a:r>
          </a:p>
          <a:p xmlns:a="http://schemas.openxmlformats.org/drawingml/2006/main">
            <a:pPr algn="ctr">
              <a:lnSpc>
                <a:spcPts val="4900"/>
              </a:lnSpc>
              <a:buNone/>
            </a:pPr>
            <a:r>
              <a:rPr sz="350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PADMESH SIVALINGAM  -  CB.SC.U4AIE24044</a:t>
            </a:r>
          </a:p>
        </p:txBody>
      </p:sp>
    </p:spTree>
    <p:extLst>
      <p:ext uri="{BB962C8B-B14F-4D97-AF65-F5344CB8AC3E}">
        <p14:creationId xmlns:p14="http://schemas.microsoft.com/office/powerpoint/2010/main" val="1961656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51D73B9-1E4D-4FF5-98CA-B5C500FD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D551C6E-755E-487D-BC47-5EFF67D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5629913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INTRODUCTION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FCBF283-0532-47CE-A6B7-84B46156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585085"/>
            <a:ext cx="13993031" cy="5741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Wh</a:t>
            </a: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at is Face Generation?</a:t>
            </a:r>
          </a:p>
          <a:p xmlns:a="http://schemas.openxmlformats.org/drawingml/2006/main">
            <a:pPr marL="604515" lvl="1" indent="-302257" algn="just">
              <a:lnSpc>
                <a:spcPts val="4199"/>
              </a:lnSpc>
              <a:buFont typeface="Arial"/>
              <a:buChar char="•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Face generation aims to create realistic human faces using deep learning</a:t>
            </a:r>
          </a:p>
          <a:p xmlns:a="http://schemas.openxmlformats.org/drawingml/2006/main">
            <a:pPr marL="604515" lvl="1" indent="-302257" algn="just">
              <a:lnSpc>
                <a:spcPts val="4199"/>
              </a:lnSpc>
              <a:buFont typeface="Arial"/>
              <a:buChar char="•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GANs learn the underlying distribution of real face images</a:t>
            </a:r>
          </a:p>
          <a:p xmlns:a="http://schemas.openxmlformats.org/drawingml/2006/main">
            <a:pPr marL="604515" lvl="1" indent="-302257" algn="just">
              <a:lnSpc>
                <a:spcPts val="4199"/>
              </a:lnSpc>
              <a:buFont typeface="Arial"/>
              <a:buChar char="•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Generated faces can be:</a:t>
            </a:r>
          </a:p>
          <a:p xmlns:a="http://schemas.openxmlformats.org/drawingml/2006/main">
            <a:pPr marL="1209029" lvl="2" indent="-403010" algn="just">
              <a:lnSpc>
                <a:spcPts val="4199"/>
              </a:lnSpc>
              <a:buFont typeface="Arial"/>
              <a:buChar char="⚬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New identities</a:t>
            </a:r>
          </a:p>
          <a:p xmlns:a="http://schemas.openxmlformats.org/drawingml/2006/main">
            <a:pPr marL="1209029" lvl="2" indent="-403010" algn="just">
              <a:lnSpc>
                <a:spcPts val="4199"/>
              </a:lnSpc>
              <a:buFont typeface="Arial"/>
              <a:buChar char="⚬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Different ages</a:t>
            </a:r>
          </a:p>
          <a:p xmlns:a="http://schemas.openxmlformats.org/drawingml/2006/main">
            <a:pPr marL="1209029" lvl="2" indent="-403010" algn="just">
              <a:lnSpc>
                <a:spcPts val="4199"/>
              </a:lnSpc>
              <a:buFont typeface="Arial"/>
              <a:buChar char="⚬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Different expressions</a:t>
            </a:r>
          </a:p>
          <a:p xmlns:a="http://schemas.openxmlformats.org/drawingml/2006/main">
            <a:pPr marL="1209029" lvl="2" indent="-403010" algn="just">
              <a:lnSpc>
                <a:spcPts val="4199"/>
              </a:lnSpc>
              <a:buFont typeface="Arial"/>
              <a:buChar char="⚬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Different hair styles</a:t>
            </a:r>
          </a:p>
          <a:p xmlns:a="http://schemas.openxmlformats.org/drawingml/2006/main">
            <a:pPr marL="1209029" lvl="2" indent="-403010" algn="just">
              <a:lnSpc>
                <a:spcPts val="4199"/>
              </a:lnSpc>
              <a:buFont typeface="Arial"/>
              <a:buChar char="⚬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With/without accessories</a:t>
            </a:r>
          </a:p>
          <a:p xmlns:a="http://schemas.openxmlformats.org/drawingml/2006/main">
            <a:pPr marL="604515" lvl="1" indent="-302257" algn="just">
              <a:lnSpc>
                <a:spcPts val="4199"/>
              </a:lnSpc>
              <a:buFont typeface="Arial"/>
              <a:buChar char="•"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The goal is not just to generate a face — it is to generate the face we ask for.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17218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AFC48CB-153A-41D8-BB07-E4E61A4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A8412E6-D7C3-4E0D-B56A-F124632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8115300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PROBLEM STATEMENT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4CABBCE-BF6C-451D-9B9B-54B2950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68742"/>
            <a:ext cx="11941937" cy="6265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Conventional GANs </a:t>
            </a:r>
            <a:r>
              <a:rPr sz="2796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can generate realistic faces, but the generated characteristics are not directly controllable.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Key challenges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1. Controllability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How can we specify the desired facial attributes?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2. Realism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How can we ensure the generated face looks authentic?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3. Attribute Accuracy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Does the generated face actually contain the requested attributes?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4. Identity Consistency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  <a:r>
              <a:rPr sz="2796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How can irrelevant facial characteristics remain natural?</a:t>
            </a:r>
          </a:p>
          <a:p xmlns:a="http://schemas.openxmlformats.org/drawingml/2006/main">
            <a:pPr algn="just">
              <a:lnSpc>
                <a:spcPts val="4194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8535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A74C8F-604D-466D-A537-154F74C0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7380141-43C2-4C9D-A760-D8A225D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8115300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OBJECTIVES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C55D050-E37E-4313-BEB5-24C87E69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02293"/>
            <a:ext cx="12805100" cy="615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01 — Generate realistic faces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Learn the distribution of real human face </a:t>
            </a: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images.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02 — Enable attribute control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Condition the generation process using attributes such as: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Age | Gender | Smile | Hair | Glasses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03 — Preserve realism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Generated images should resemble real human faces.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04 — Improve attribute consistency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The requested attribute should clearly appear in the generated image.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05 — Evaluate generation quality</a:t>
            </a:r>
          </a:p>
          <a:p xmlns:a="http://schemas.openxmlformats.org/drawingml/2006/main">
            <a:pPr algn="just">
              <a:lnSpc>
                <a:spcPts val="4499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53850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99F846F-4B67-43AF-A9BA-F16BF408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4562EC0-7DA1-4D64-BC5F-2629745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4926991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LITERATURE REVIEW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780759B-1887-4BEB-9956-EDF43EA2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98956"/>
            <a:ext cx="16230600" cy="6791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1. A Review on the Human Face Generation Approaches — R. Ravinder Reddy et al., ICICT 2024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R</a:t>
            </a: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eviews major GAN-based approaches for human face generation.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Focuses particularly on Conditional GANs (CGANs) for controlled face generation.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Highlights identity preservation, diversity, expression variation and lighting as important challenges.</a:t>
            </a:r>
          </a:p>
          <a:p xmlns:a="http://schemas.openxmlformats.org/drawingml/2006/main">
            <a:pPr algn="l">
              <a:lnSpc>
                <a:spcPts val="4199"/>
              </a:lnSpc>
              <a:buNone/>
            </a:pPr>
          </a:p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2. Conditional Generative Adversarial Nets — Mirza &amp; Osindero (2014)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Extended GANs by introducing conditional information.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The condition is provided to both Generator and Discriminator.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Enables generation according to a desired class or attribute.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Provides the fundamental idea behind attribute-guided face generation</a:t>
            </a:r>
          </a:p>
          <a:p xmlns:a="http://schemas.openxmlformats.org/drawingml/2006/main">
            <a:pPr algn="l">
              <a:lnSpc>
                <a:spcPts val="419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267615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49DA4A7-27A2-4EDD-8A66-85D2765D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14AEA27-FE6D-4E83-BD27-0F6A68E8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4926991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LITERATURE REVIEW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1C34B1C-F529-4489-A540-345F9FB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98956"/>
            <a:ext cx="16230600" cy="6267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3. StarGAN: Unified Generative Adversarial Networks for Multi-Domain Image-to-Image Translation — Choi et al. (2017)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Proposed a single GAN capable of handling multiple facial domains/attributes.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Demonstrated applications in facial attribute transfer and expression synthesis.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Shows that multiple attributes can be controlled using a unified model. </a:t>
            </a:r>
          </a:p>
          <a:p xmlns:a="http://schemas.openxmlformats.org/drawingml/2006/main">
            <a:pPr algn="l">
              <a:lnSpc>
                <a:spcPts val="4199"/>
              </a:lnSpc>
              <a:buNone/>
            </a:pPr>
          </a:p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4. AttGAN: Facial Attribute Editing by Only Changing What You Want — He et al. (2019)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Focused specifically on facial attribute manipulation.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Uses attribute classification, reconstruction, and adversarial learning.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Designed to change the desired attributes while preserving other facial details.</a:t>
            </a:r>
          </a:p>
          <a:p xmlns:a="http://schemas.openxmlformats.org/drawingml/2006/main"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sz="29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Demonstrated results on CelebA and LFW datasets</a:t>
            </a:r>
          </a:p>
          <a:p xmlns:a="http://schemas.openxmlformats.org/drawingml/2006/main">
            <a:pPr algn="l">
              <a:lnSpc>
                <a:spcPts val="419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66728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AEDE2C3-9FAC-4C3A-AED7-1F251A0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112B6CB-B0FC-4B7A-A3F7-A8D2FC94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8115300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RESEARCH GAPS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62CE6AC-E9BE-47DB-87BF-A356CAC9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254712"/>
            <a:ext cx="12138352" cy="67894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What is st</a:t>
            </a: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ill challenging?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1. Precise attribute control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Changing one attribute can unintentionally affect others.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2. Attribute–identity entanglement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Changing age may unintentionally change facial identity/features.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3. Realism vs. controllability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More control may introduce artifacts.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4. Multiple attributes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Simultaneously controlling several attributes increases complexity.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5. Training instability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GAN training can suffer from: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Mode Collapse | Oscillation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79870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4EBEFB4-402E-4196-A512-23505DC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611AD86-355E-44D7-91EA-BD99DDBD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971935"/>
            <a:ext cx="5426416" cy="7068935"/>
          </a:xfrm>
          <a:custGeom xmlns:a="http://schemas.openxmlformats.org/drawingml/2006/main">
            <a:rect l="l" t="t" r="r" b="b"/>
            <a:pathLst>
              <a:path w="5426416" h="7068935">
                <a:moveTo>
                  <a:pt x="0" y="0"/>
                </a:moveTo>
                <a:lnTo>
                  <a:pt x="5426416" y="0"/>
                </a:lnTo>
                <a:lnTo>
                  <a:pt x="5426416" y="7068935"/>
                </a:lnTo>
                <a:lnTo>
                  <a:pt x="0" y="70689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1404e06a684b8b"/>
            <a:stretch>
              <a:fillRect l="0" t="-4115" r="-6893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4F9AD16-E35A-4099-B355-CF3D791A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5878" y="3858618"/>
            <a:ext cx="8943422" cy="1284882"/>
          </a:xfrm>
          <a:custGeom xmlns:a="http://schemas.openxmlformats.org/drawingml/2006/main">
            <a:rect l="l" t="t" r="r" b="b"/>
            <a:pathLst>
              <a:path w="2355469" h="338405">
                <a:moveTo>
                  <a:pt x="44148" y="0"/>
                </a:moveTo>
                <a:lnTo>
                  <a:pt x="2311321" y="0"/>
                </a:lnTo>
                <a:cubicBezTo>
                  <a:pt x="2323030" y="0"/>
                  <a:pt x="2334259" y="4651"/>
                  <a:pt x="2342538" y="12931"/>
                </a:cubicBezTo>
                <a:cubicBezTo>
                  <a:pt x="2350818" y="21210"/>
                  <a:pt x="2355469" y="32440"/>
                  <a:pt x="2355469" y="44148"/>
                </a:cubicBezTo>
                <a:lnTo>
                  <a:pt x="2355469" y="294257"/>
                </a:lnTo>
                <a:cubicBezTo>
                  <a:pt x="2355469" y="305966"/>
                  <a:pt x="2350818" y="317195"/>
                  <a:pt x="2342538" y="325474"/>
                </a:cubicBezTo>
                <a:cubicBezTo>
                  <a:pt x="2334259" y="333754"/>
                  <a:pt x="2323030" y="338405"/>
                  <a:pt x="2311321" y="338405"/>
                </a:cubicBezTo>
                <a:lnTo>
                  <a:pt x="44148" y="338405"/>
                </a:lnTo>
                <a:cubicBezTo>
                  <a:pt x="19766" y="338405"/>
                  <a:pt x="0" y="318639"/>
                  <a:pt x="0" y="294257"/>
                </a:cubicBezTo>
                <a:lnTo>
                  <a:pt x="0" y="44148"/>
                </a:lnTo>
                <a:cubicBezTo>
                  <a:pt x="0" y="32440"/>
                  <a:pt x="4651" y="21210"/>
                  <a:pt x="12931" y="12931"/>
                </a:cubicBezTo>
                <a:cubicBezTo>
                  <a:pt x="21210" y="4651"/>
                  <a:pt x="32440" y="0"/>
                  <a:pt x="44148" y="0"/>
                </a:cubicBez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F60FEC6-43B9-4F8B-8484-69C9549A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5878" y="3641627"/>
            <a:ext cx="8943422" cy="15018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359"/>
              </a:lnSpc>
              <a:buNone/>
            </a:pP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4E50860-17B3-49ED-9AED-C8998F6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0852832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PROPOSED METHODOLOGY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46FF1B5-E44C-412B-95AB-56FD919D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8971" y="3034347"/>
            <a:ext cx="9251879" cy="2472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Main comp</a:t>
            </a:r>
            <a:r>
              <a:rPr sz="2799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onents: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F362D"/>
                </a:solidFill>
                <a:latin typeface="Raleway"/>
                <a:ea typeface="Raleway"/>
                <a:cs typeface="Raleway"/>
              </a:rPr>
              <a:t>Dataset → Preprocessing → Attribute Encoding → Generator → Discriminator → Evaluation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05743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B7C870D-DD44-4FCE-BAA2-012133A9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0240AAA-8A40-4535-93EE-BC93420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5181" y="3124783"/>
            <a:ext cx="8337483" cy="4269402"/>
          </a:xfrm>
          <a:custGeom xmlns:a="http://schemas.openxmlformats.org/drawingml/2006/main">
            <a:rect l="l" t="t" r="r" b="b"/>
            <a:pathLst>
              <a:path w="2195880" h="1124452">
                <a:moveTo>
                  <a:pt x="47357" y="0"/>
                </a:moveTo>
                <a:lnTo>
                  <a:pt x="2148523" y="0"/>
                </a:lnTo>
                <a:cubicBezTo>
                  <a:pt x="2161083" y="0"/>
                  <a:pt x="2173129" y="4989"/>
                  <a:pt x="2182010" y="13871"/>
                </a:cubicBezTo>
                <a:cubicBezTo>
                  <a:pt x="2190891" y="22752"/>
                  <a:pt x="2195880" y="34797"/>
                  <a:pt x="2195880" y="47357"/>
                </a:cubicBezTo>
                <a:lnTo>
                  <a:pt x="2195880" y="1077095"/>
                </a:lnTo>
                <a:cubicBezTo>
                  <a:pt x="2195880" y="1089655"/>
                  <a:pt x="2190891" y="1101701"/>
                  <a:pt x="2182010" y="1110582"/>
                </a:cubicBezTo>
                <a:cubicBezTo>
                  <a:pt x="2173129" y="1119463"/>
                  <a:pt x="2161083" y="1124452"/>
                  <a:pt x="2148523" y="1124452"/>
                </a:cubicBezTo>
                <a:lnTo>
                  <a:pt x="47357" y="1124452"/>
                </a:lnTo>
                <a:cubicBezTo>
                  <a:pt x="34797" y="1124452"/>
                  <a:pt x="22752" y="1119463"/>
                  <a:pt x="13871" y="1110582"/>
                </a:cubicBezTo>
                <a:cubicBezTo>
                  <a:pt x="4989" y="1101701"/>
                  <a:pt x="0" y="1089655"/>
                  <a:pt x="0" y="1077095"/>
                </a:cubicBezTo>
                <a:lnTo>
                  <a:pt x="0" y="47357"/>
                </a:lnTo>
                <a:cubicBezTo>
                  <a:pt x="0" y="34797"/>
                  <a:pt x="4989" y="22752"/>
                  <a:pt x="13871" y="13871"/>
                </a:cubicBezTo>
                <a:cubicBezTo>
                  <a:pt x="22752" y="4989"/>
                  <a:pt x="34797" y="0"/>
                  <a:pt x="47357" y="0"/>
                </a:cubicBez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92CAB10-6DBC-492D-9CC3-D2DBAC5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5181" y="2907792"/>
            <a:ext cx="8337483" cy="4486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359"/>
              </a:lnSpc>
              <a:buNone/>
            </a:p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ED4DC9E-4635-46BA-A082-C2D31CC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0852832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WHAT IS A GAN?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6A25273-C79B-4ADA-9798-F984D56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368604"/>
            <a:ext cx="8417019" cy="417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Generative Adversar</a:t>
            </a: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ial Network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A GAN consists of two competing neural networks: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Generator — G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Creates fake images from random noise.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Discriminator — D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Determines whether an image is real or generated.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</a:p>
          <a:p xmlns:a="http://schemas.openxmlformats.org/drawingml/2006/main">
            <a:pPr algn="just">
              <a:lnSpc>
                <a:spcPts val="4199"/>
              </a:lnSpc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B1D2B1B-F188-4841-A4E5-5D73333E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5719" y="2173863"/>
            <a:ext cx="8842281" cy="5487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339"/>
              </a:lnSpc>
              <a:buNone/>
            </a:pPr>
            <a:r>
              <a:rPr sz="30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Adversarial idea</a:t>
            </a:r>
          </a:p>
          <a:p xmlns:a="http://schemas.openxmlformats.org/drawingml/2006/main">
            <a:pPr algn="ctr">
              <a:lnSpc>
                <a:spcPts val="3919"/>
              </a:lnSpc>
              <a:buNone/>
            </a:pP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Generat</a:t>
            </a:r>
            <a:r>
              <a:rPr sz="2799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or: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F362D"/>
                </a:solidFill>
                <a:latin typeface="Raleway"/>
                <a:ea typeface="Raleway"/>
                <a:cs typeface="Raleway"/>
              </a:rPr>
              <a:t>“I want to fool the discriminator.”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Discriminator: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F362D"/>
                </a:solidFill>
                <a:latin typeface="Raleway"/>
                <a:ea typeface="Raleway"/>
                <a:cs typeface="Raleway"/>
              </a:rPr>
              <a:t>“I want to detect fake images.”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Result: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F362D"/>
                </a:solidFill>
                <a:latin typeface="Raleway"/>
                <a:ea typeface="Raleway"/>
                <a:cs typeface="Raleway"/>
              </a:rPr>
              <a:t>Both networks improve through competition.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F362D"/>
                </a:solidFill>
                <a:latin typeface="Raleway"/>
                <a:ea typeface="Raleway"/>
                <a:cs typeface="Raleway"/>
              </a:rPr>
              <a:t>The original GAN is formulated as a two-player minimax game between G and D.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22354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DB1C52B-D7A3-48F7-B997-DC982C0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B59A662-C687-45BF-A9A7-6E27BFE7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0852832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HOW A STANDARD GAN WORKS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4FEF33C-4472-4F4D-A378-23D44C9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753677"/>
            <a:ext cx="5658100" cy="46939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Training Cy</a:t>
            </a: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cle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Step 1 — </a:t>
            </a: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Sample real image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Real image x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Step 2 —</a:t>
            </a: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Generate random noise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z ~ N(0,1)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Step 3 —</a:t>
            </a: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Generate fake image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Fake image = G(z)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C8E5A29-12E8-4B0D-8F10-4F18FD5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0020" y="2772727"/>
            <a:ext cx="6259280" cy="5443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Step 4 —</a:t>
            </a: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Discriminat</a:t>
            </a: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or evaluates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D(real image) → close to 1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D(fake image) → close to 0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Step 5 —</a:t>
            </a: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Update networks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Discriminator Learns: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Real → 1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 Fake → 0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Generator Learns: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Make D(fake) → 1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10383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7FFD8F6-42C1-416C-8C85-3C77629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942EB27-593D-48C3-9989-BC2606E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324100"/>
            <a:ext cx="8572500" cy="666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4199"/>
              </a:lnSpc>
              <a:buNone/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Standard GAN objective</a:t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min_G max_D V(D,G) = Eₓ[log D(x)] + E_z[log(1 − D(G(z)))]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D learns: real → 1; generated → 0.</a:t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G learns: generated → 1.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3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Our implementation adds a 10-attribute classification objective; the exact project losses appear later.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0D5D01B-F28D-4F02-8863-E4369A48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1929" y="2668767"/>
            <a:ext cx="7653694" cy="4734406"/>
          </a:xfrm>
          <a:custGeom xmlns:a="http://schemas.openxmlformats.org/drawingml/2006/main">
            <a:rect l="l" t="t" r="r" b="b"/>
            <a:pathLst>
              <a:path w="2015788" h="1246922">
                <a:moveTo>
                  <a:pt x="51588" y="0"/>
                </a:moveTo>
                <a:lnTo>
                  <a:pt x="1964200" y="0"/>
                </a:lnTo>
                <a:cubicBezTo>
                  <a:pt x="1977882" y="0"/>
                  <a:pt x="1991003" y="5435"/>
                  <a:pt x="2000678" y="15110"/>
                </a:cubicBezTo>
                <a:cubicBezTo>
                  <a:pt x="2010352" y="24784"/>
                  <a:pt x="2015788" y="37906"/>
                  <a:pt x="2015788" y="51588"/>
                </a:cubicBezTo>
                <a:lnTo>
                  <a:pt x="2015788" y="1195334"/>
                </a:lnTo>
                <a:cubicBezTo>
                  <a:pt x="2015788" y="1223825"/>
                  <a:pt x="1992691" y="1246922"/>
                  <a:pt x="1964200" y="1246922"/>
                </a:cubicBezTo>
                <a:lnTo>
                  <a:pt x="51588" y="1246922"/>
                </a:lnTo>
                <a:cubicBezTo>
                  <a:pt x="37906" y="1246922"/>
                  <a:pt x="24784" y="1241487"/>
                  <a:pt x="15110" y="1231812"/>
                </a:cubicBezTo>
                <a:cubicBezTo>
                  <a:pt x="5435" y="1222137"/>
                  <a:pt x="0" y="1209016"/>
                  <a:pt x="0" y="1195334"/>
                </a:cubicBezTo>
                <a:lnTo>
                  <a:pt x="0" y="51588"/>
                </a:lnTo>
                <a:cubicBezTo>
                  <a:pt x="0" y="23097"/>
                  <a:pt x="23097" y="0"/>
                  <a:pt x="51588" y="0"/>
                </a:cubicBez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0534CAF-DC8E-4F86-A33A-D31EF1D6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1929" y="2451776"/>
            <a:ext cx="7653694" cy="4951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359"/>
              </a:lnSpc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83A0CCF-C74F-44B0-9FED-597CBCB9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0852832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GAN LOSS FUNCTION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649897-8C2F-4E55-9D94-A262F3E1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0628" y="2912745"/>
            <a:ext cx="6954764" cy="4606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D bec</a:t>
            </a: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omes better at detecting fake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↓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G learns to make better fake images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↓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D becomes better again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↓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G improves again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End goal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Generated distribution ≈ Real face distribution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7632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DDB1B21-B262-46E0-91D0-23E25D7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A3CE639-5A1A-44B3-8E36-E614829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7276" y="2150012"/>
            <a:ext cx="4496096" cy="4118773"/>
          </a:xfrm>
          <a:custGeom xmlns:a="http://schemas.openxmlformats.org/drawingml/2006/main">
            <a:rect l="l" t="t" r="r" b="b"/>
            <a:pathLst>
              <a:path w="1184157" h="1084780">
                <a:moveTo>
                  <a:pt x="87818" y="0"/>
                </a:moveTo>
                <a:lnTo>
                  <a:pt x="1096339" y="0"/>
                </a:lnTo>
                <a:cubicBezTo>
                  <a:pt x="1144840" y="0"/>
                  <a:pt x="1184157" y="39317"/>
                  <a:pt x="1184157" y="87818"/>
                </a:cubicBezTo>
                <a:lnTo>
                  <a:pt x="1184157" y="996962"/>
                </a:lnTo>
                <a:cubicBezTo>
                  <a:pt x="1184157" y="1045462"/>
                  <a:pt x="1144840" y="1084780"/>
                  <a:pt x="1096339" y="1084780"/>
                </a:cubicBezTo>
                <a:lnTo>
                  <a:pt x="87818" y="1084780"/>
                </a:lnTo>
                <a:cubicBezTo>
                  <a:pt x="39317" y="1084780"/>
                  <a:pt x="0" y="1045462"/>
                  <a:pt x="0" y="996962"/>
                </a:cubicBezTo>
                <a:lnTo>
                  <a:pt x="0" y="87818"/>
                </a:lnTo>
                <a:cubicBezTo>
                  <a:pt x="0" y="39317"/>
                  <a:pt x="39317" y="0"/>
                  <a:pt x="87818" y="0"/>
                </a:cubicBez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19C5383-F82A-4374-A19C-190B087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7276" y="1933021"/>
            <a:ext cx="4496096" cy="4335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359"/>
              </a:lnSpc>
              <a:buNone/>
            </a:p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19E64DA-7DE7-40B7-B68F-A0274D54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5344096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FROM GAN TO CONDITIONAL GAN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38CD38B-4463-4C22-9D64-00AFEC4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266950"/>
            <a:ext cx="7905750" cy="523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4199"/>
              </a:lnSpc>
              <a:buNone/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Standard GAN: z → G(z)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Our generator receives noise and attributes:</a:t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x_fake = G(z, a)</a:t>
            </a:r>
          </a:p>
          <a:p xmlns:a="http://schemas.openxmlformats.org/drawingml/2006/main">
            <a:pPr algn="just">
              <a:lnSpc>
                <a:spcPts val="4199"/>
              </a:lnSpc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/>
            </a:r>
          </a:p>
          <a:p xmlns:a="http://schemas.openxmlformats.org/drawingml/2006/main">
            <a:pPr algn="l">
              <a:lnSpc>
                <a:spcPts val="4199"/>
              </a:lnSpc>
              <a:buNone/>
              <a:def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2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Our discriminator receives the image only and returns real/fake and attribute logits.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96214A4-52EF-498E-B048-BEEE48B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8253" y="2295181"/>
            <a:ext cx="4220885" cy="3768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9"/>
              </a:lnSpc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Random Noise</a:t>
            </a:r>
          </a:p>
          <a:p xmlns:a="http://schemas.openxmlformats.org/drawingml/2006/main">
            <a:pPr algn="ctr">
              <a:lnSpc>
                <a:spcPts val="3359"/>
              </a:lnSpc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    +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[</a:t>
            </a: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Young, Male, Smile, Glasses]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    │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    ▼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Generator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    │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     ▼</a:t>
            </a:r>
          </a:p>
          <a:p xmlns:a="http://schemas.openxmlformats.org/drawingml/2006/main">
            <a:pPr algn="ctr">
              <a:lnSpc>
                <a:spcPts val="3359"/>
              </a:lnSpc>
              <a:spcBef>
                <a:spcPct val="0"/>
              </a:spcBef>
              <a:buNone/>
            </a:pPr>
            <a:r>
              <a:rPr sz="2400" b="1">
                <a:solidFill>
                  <a:srgbClr val="3F362D"/>
                </a:solidFill>
                <a:latin typeface="Raleway Bold"/>
                <a:ea typeface="Raleway Bold"/>
                <a:cs typeface="Raleway Bold"/>
              </a:rPr>
              <a:t>Generated Face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28FB33-3FE1-4F8B-98E1-C12F4AB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7810500"/>
            <a:ext cx="172878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ctr"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  <a:def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0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D(x) → (real/fake logit, 10 attribute logits). It is not given the requested attribute vector as an input.</a:t>
            </a:r>
          </a:p>
        </p:txBody>
      </p:sp>
    </p:spTree>
    <p:extLst>
      <p:ext uri="{BB962C8B-B14F-4D97-AF65-F5344CB8AC3E}">
        <p14:creationId xmlns:p14="http://schemas.microsoft.com/office/powerpoint/2010/main" val="316673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6EB4DEA-86A5-4554-AAB6-E4435E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8D77C4-922A-406E-92B9-7A1D79F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1172825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TRAINING DATA AND CONDITIONS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690826-6E2C-42FD-B613-5149C30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428750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Real batch: (x_real, y_real)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Images and labels come from CelebA.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Noise: z ~ N(0, I₁₀₀)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Fake condition: aᵢ ~ Bernoulli(0.5), i = 1…10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The current training loop samples each target bit independently; it does not use y_real as the fake condition.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x_fake = G(z, a)</a:t>
            </a:r>
          </a:p>
        </p:txBody>
      </p:sp>
    </p:spTree>
    <p:extLst>
      <p:ext uri="{BB962C8B-B14F-4D97-AF65-F5344CB8AC3E}">
        <p14:creationId xmlns:p14="http://schemas.microsoft.com/office/powerpoint/2010/main" val="438277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B50E6B7-7E96-44C1-A74E-2B32102C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886B1EE-AC46-4999-BB2B-88AC6ACE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8751887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DISCRIMINATOR OUTPUTS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CD80338-188B-4777-B1C0-0D94D699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428750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Input: an image x only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D(x) = (r, q)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r: one real/fake logit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q ∈ R¹⁰: attribute logits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 u="none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For real images, q is trained against the CelebA labels y_real.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For generated images, the generator uses q to learn the requested attributes a.</a:t>
            </a:r>
          </a:p>
        </p:txBody>
      </p:sp>
    </p:spTree>
    <p:extLst>
      <p:ext uri="{BB962C8B-B14F-4D97-AF65-F5344CB8AC3E}">
        <p14:creationId xmlns:p14="http://schemas.microsoft.com/office/powerpoint/2010/main" val="10558344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BEDE793-6D7B-44DC-ACD3-DBDD0BB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E02B689-FA75-4892-8320-678A8E0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9440862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TRAINING LOOP AND SAVING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4560BBC-3FC7-4745-A635-254F9005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428750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Each batch updates the discriminator, then the generator. Gradients are backpropagated through their respective losses.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Adam updates both networks. CUDA mixed precision and a batch progress bar are enabled when a CUDA GPU is available.</a:t>
            </a:r>
          </a:p>
          <a:p xmlns:a="http://schemas.openxmlformats.org/drawingml/2006/main">
            <a:pPr algn="ctr">
              <a:lnSpc>
                <a:spcPts val="3919"/>
              </a:lnSpc>
              <a:spcBef>
                <a:spcPct val="0"/>
              </a:spcBef>
              <a:buNone/>
            </a:pPr>
            <a:r>
              <a:rPr sz="2799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Sample grids: every 500 batches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Checkpoints: every 5 epochs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The run reached epoch 200; later training did not improve visual variety over the epoch-50 checkpoint.</a:t>
            </a:r>
          </a:p>
        </p:txBody>
      </p:sp>
    </p:spTree>
    <p:extLst>
      <p:ext uri="{BB962C8B-B14F-4D97-AF65-F5344CB8AC3E}">
        <p14:creationId xmlns:p14="http://schemas.microsoft.com/office/powerpoint/2010/main" val="504351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6EB4DEA-86A5-4554-AAB6-E4435E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8D77C4-922A-406E-92B9-7A1D79F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0348912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DATASET AND PREPROCESSING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690826-6E2C-42FD-B613-5149C30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495425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CelebA images are aligned and cropped to 178 × 178, then resized to 64 × 64.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Tensor normalization: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x_norm = (x − 0.5) / 0.5 = 2x − 1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Label conversion: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y = (y_raw + 1) / 2 ∈ {0,1}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The model uses 10 selected attributes from CelebA’s 40 labels. The current split uses 98% for training and 2% for validation.</a:t>
            </a:r>
          </a:p>
        </p:txBody>
      </p:sp>
    </p:spTree>
    <p:extLst>
      <p:ext uri="{BB962C8B-B14F-4D97-AF65-F5344CB8AC3E}">
        <p14:creationId xmlns:p14="http://schemas.microsoft.com/office/powerpoint/2010/main" val="43827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6EB4DEA-86A5-4554-AAB6-E4435E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8D77C4-922A-406E-92B9-7A1D79F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8788400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NETWORK ARCHITECTURE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690826-6E2C-42FD-B613-5149C30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581150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Condition and noise: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z ∈ R¹⁰⁰, a ∈ {0,1}¹⁰; concatenate to 110 inputs.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rPr sz="2799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Generator spatial sizes: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4 × 4 × 512 → 8 × 8 × 256 → 16 × 16 × 128 → 32 × 32 × 64 → 64 × 64 × 3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The discriminator downsamples 64 × 64 to 4 × 4 features, then predicts 1 authenticity logit and 10 attribute logits. Generator output uses Tanh.</a:t>
            </a:r>
          </a:p>
        </p:txBody>
      </p:sp>
    </p:spTree>
    <p:extLst>
      <p:ext uri="{BB962C8B-B14F-4D97-AF65-F5344CB8AC3E}">
        <p14:creationId xmlns:p14="http://schemas.microsoft.com/office/powerpoint/2010/main" val="438277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6EB4DEA-86A5-4554-AAB6-E4435E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8D77C4-922A-406E-92B9-7A1D79F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9099550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PROJECT TRAINING LOSSES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690826-6E2C-42FD-B613-5149C30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581150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BCEWithLogits(s,t) = −[t log σ(s) + (1−t) log(1−σ(s))]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Let r_real and r_fake be authenticity logits; q_real and q_fake are 10 attribute logits.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L_D = BCE(r_real, 0.9) + BCE(r_fake, 0) + λ·BCE(q_real, y_real)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L_G = BCE(r_fake, 1) + λ·BCE(q_fake, a)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λ = 1.0. The 0.9 real target is one-sided label smoothing.</a:t>
            </a:r>
          </a:p>
        </p:txBody>
      </p:sp>
    </p:spTree>
    <p:extLst>
      <p:ext uri="{BB962C8B-B14F-4D97-AF65-F5344CB8AC3E}">
        <p14:creationId xmlns:p14="http://schemas.microsoft.com/office/powerpoint/2010/main" val="438277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6EB4DEA-86A5-4554-AAB6-E4435E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8D77C4-922A-406E-92B9-7A1D79F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9020175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TRAINING CONFIGURATION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690826-6E2C-42FD-B613-5149C30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5811500" cy="642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Batch size: 128     Epochs completed: 200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Adam: learning rate η = 2 × 10⁻⁴; β₁ = 0.5, β₂ = 0.999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 u="sng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Parameter update (conceptually): θ ← θ − η∇θL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CUDA automatic mixed precision is enabled when available. Checkpoints are saved every 5 epochs.</a:t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For this run, epoch 50 had better visual variety than epoch 200; the latest checkpoint was not automatically the best one.</a:t>
            </a:r>
          </a:p>
        </p:txBody>
      </p:sp>
    </p:spTree>
    <p:extLst>
      <p:ext uri="{BB962C8B-B14F-4D97-AF65-F5344CB8AC3E}">
        <p14:creationId xmlns:p14="http://schemas.microsoft.com/office/powerpoint/2010/main" val="438277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6EB4DEA-86A5-4554-AAB6-E4435E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8D77C4-922A-406E-92B9-7A1D79F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7221537" cy="853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def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defPPr>
            <a:lvl1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1pPr>
            <a:lvl2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2pPr>
            <a:lvl3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3pPr>
            <a:lvl4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4pPr>
            <a:lvl5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5pPr>
            <a:lvl6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6pPr>
            <a:lvl7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7pPr>
            <a:lvl8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8pPr>
            <a:lvl9pPr algn="l"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lvl9pPr>
          </a:lstStyle>
          <a:p xmlns:a="http://schemas.openxmlformats.org/drawingml/2006/main">
            <a:pPr algn="l">
              <a:lnSpc>
                <a:spcPts val="6719"/>
              </a:lnSpc>
              <a:buNone/>
              <a:defRPr sz="480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GENERATED RESULTS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690826-6E2C-42FD-B613-5149C30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81250"/>
            <a:ext cx="1590675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55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/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3A34-B4F5-44D0-826F-FE9E23629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155dba50d4b28"/>
          <a:stretch xmlns:a="http://schemas.openxmlformats.org/drawingml/2006/main"/>
        </p:blipFill>
        <p:spPr>
          <a:xfrm xmlns:a="http://schemas.openxmlformats.org/drawingml/2006/main">
            <a:off x="1028700" y="2518969"/>
            <a:ext cx="7810500" cy="3934613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299B-9A12-411E-9424-73609DEF3C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88116c1524d55"/>
          <a:stretch xmlns:a="http://schemas.openxmlformats.org/drawingml/2006/main"/>
        </p:blipFill>
        <p:spPr>
          <a:xfrm xmlns:a="http://schemas.openxmlformats.org/drawingml/2006/main">
            <a:off x="9448800" y="2518969"/>
            <a:ext cx="7810500" cy="3934613"/>
          </a:xfrm>
          <a:prstGeom xmlns:a="http://schemas.openxmlformats.org/drawingml/2006/main" prst="rect">
            <a:avLst/>
          </a:prstGeom>
        </p:spPr>
      </p:pic>
      <p:sp>
        <p:nvSpPr>
          <p:cNvPr id="8" name="Natural sample caption">
            <a:extLst xmlns:a="http://schemas.openxmlformats.org/drawingml/2006/main">
              <a:ext uri="{FF2B5EF4-FFF2-40B4-BE49-F238E27FC236}">
                <a16:creationId xmlns:a16="http://schemas.microsoft.com/office/drawing/2014/main" id="{342825D4-C9A6-4FE0-BBD4-192D0F9D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151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Natural CelebA attribute combinations</a:t>
            </a:r>
          </a:p>
        </p:txBody>
      </p:sp>
      <p:sp>
        <p:nvSpPr>
          <p:cNvPr id="9" name="Requested attributes caption">
            <a:extLst xmlns:a="http://schemas.openxmlformats.org/drawingml/2006/main">
              <a:ext uri="{FF2B5EF4-FFF2-40B4-BE49-F238E27FC236}">
                <a16:creationId xmlns:a16="http://schemas.microsoft.com/office/drawing/2014/main" id="{7B8BB5EB-76D7-4ED7-823F-5208FDA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7151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18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Requested: Female + Eyeglasses</a:t>
            </a:r>
          </a:p>
        </p:txBody>
      </p:sp>
      <p:sp>
        <p:nvSpPr>
          <p:cNvPr id="10" name="Results note">
            <a:extLst xmlns:a="http://schemas.openxmlformats.org/drawingml/2006/main">
              <a:ext uri="{FF2B5EF4-FFF2-40B4-BE49-F238E27FC236}">
                <a16:creationId xmlns:a16="http://schemas.microsoft.com/office/drawing/2014/main" id="{4A97E1BE-6071-4195-8C78-37F7C14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477125"/>
            <a:ext cx="1485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1725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Checkpoint: epoch 50 · 64 candidates per requested output · 64×64 model images enlarged 4× for display. The samples show the requested traits, but remain soft and low-resolution. Attribute scores come from the project’s own discriminator; no independent metric such as FID was run.</a:t>
            </a:r>
          </a:p>
        </p:txBody>
      </p:sp>
    </p:spTree>
    <p:extLst>
      <p:ext uri="{BB962C8B-B14F-4D97-AF65-F5344CB8AC3E}">
        <p14:creationId xmlns:p14="http://schemas.microsoft.com/office/powerpoint/2010/main" val="438277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A979334-3F47-456B-BC4B-18EAA90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FA7EA82-DCE0-4F96-8B4B-7D9AE1D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33450"/>
            <a:ext cx="15344096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</a:pPr>
            <a:r>
              <a:rPr sz="4800">
                <a:solidFill>
                  <a:srgbClr val="344E41"/>
                </a:solidFill>
                <a:latin typeface="Prata"/>
                <a:ea typeface="Prata"/>
                <a:cs typeface="Prata"/>
              </a:rPr>
              <a:t>CONCLUSION &amp; FUTURE SCOPE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C4B387B-C5CE-4E42-86CC-087443C0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143125"/>
            <a:ext cx="15287625" cy="676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defPPr>
            <a:lvl1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1pPr>
            <a:lvl2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2pPr>
            <a:lvl3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3pPr>
            <a:lvl4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4pPr>
            <a:lvl5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5pPr>
            <a:lvl6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6pPr>
            <a:lvl7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7pPr>
            <a:lvl8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8pPr>
            <a:lvl9pPr algn="l"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lvl9pPr>
          </a:lstStyle>
          <a:p xmlns:a="http://schemas.openxmlformats.org/drawingml/2006/main">
            <a:pPr algn="l">
              <a:lnSpc>
                <a:spcPts val="3919"/>
              </a:lnSpc>
              <a:spcBef>
                <a:spcPct val="0"/>
              </a:spcBef>
              <a:buNone/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Implemented: attribute-guided 64×64 face generation with a discriminator that predicts 10 attributes.</a:t>
            </a:r>
          </a:p>
          <a:p xmlns:a="http://schemas.openxmlformats.org/drawingml/2006/main"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Observed: epoch 50 gave more visual variety than epoch 200; faces remain soft.</a:t>
            </a:r>
          </a:p>
          <a:p xmlns:a="http://schemas.openxmlformats.org/drawingml/2006/main"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Limitation: training target combinations are sampled independently, and generated-attribute evaluation uses the project’s own discriminator.</a:t>
            </a:r>
          </a:p>
          <a:p xmlns:a="http://schemas.openxmlformats.org/drawingml/2006/main"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Next: sample real CelebA label combinations, improve fidelity, and evaluate with independent metrics.</a:t>
            </a:r>
          </a:p>
          <a:p xmlns:a="http://schemas.openxmlformats.org/drawingml/2006/main"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  <a:def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</a:rPr>
              <a:t>Future: higher resolution, more attributes, identity preservation, pose and style control.</a:t>
            </a:r>
          </a:p>
        </p:txBody>
      </p:sp>
    </p:spTree>
    <p:extLst>
      <p:ext uri="{BB962C8B-B14F-4D97-AF65-F5344CB8AC3E}">
        <p14:creationId xmlns:p14="http://schemas.microsoft.com/office/powerpoint/2010/main" val="8951479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D7374E6-8A21-4072-B13F-39A02D79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54" y="4493895"/>
            <a:ext cx="12734892" cy="151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1400"/>
              </a:lnSpc>
              <a:buNone/>
            </a:pPr>
            <a:r>
              <a:rPr sz="11400">
                <a:solidFill>
                  <a:srgbClr val="344E41"/>
                </a:solidFill>
                <a:latin typeface="Prata"/>
                <a:ea typeface="Prata"/>
                <a:cs typeface="Prata"/>
              </a:rPr>
              <a:t>THANK YOU 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06BB922-E288-4AE2-B4AC-D790BDC7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258300"/>
            <a:ext cx="18288000" cy="1028699"/>
          </a:xfrm>
          <a:custGeom xmlns:a="http://schemas.openxmlformats.org/drawingml/2006/main">
            <a:rect l="l" t="t" r="r" b="b"/>
            <a:pathLst>
              <a:path w="12372622" h="695960">
                <a:moveTo>
                  <a:pt x="0" y="0"/>
                </a:moveTo>
                <a:lnTo>
                  <a:pt x="12372622" y="0"/>
                </a:lnTo>
                <a:lnTo>
                  <a:pt x="12372622" y="695960"/>
                </a:lnTo>
                <a:lnTo>
                  <a:pt x="0" y="695960"/>
                </a:lnTo>
                <a:close/>
              </a:path>
            </a:pathLst>
          </a:custGeom>
          <a:solidFill xmlns:a="http://schemas.openxmlformats.org/drawingml/2006/main">
            <a:srgbClr val="A3B18A"/>
          </a:solidFill>
        </p:spPr>
      </p:sp>
    </p:spTree>
    <p:extLst>
      <p:ext uri="{BB962C8B-B14F-4D97-AF65-F5344CB8AC3E}">
        <p14:creationId xmlns:p14="http://schemas.microsoft.com/office/powerpoint/2010/main" val="11212835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2026-10-20T07:29:17.2990000Z</dcterms:created>
  <dcterms:modified xsi:type="dcterms:W3CDTF">2026-10-20T07:29:17.2990000Z</dcterms:modified>
</coreProperties>
</file>